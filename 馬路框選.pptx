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4D0F21-14FF-4F88-98C2-786E28279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2842538-11AE-4C3D-981C-AD55851D39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1D472C-E6A5-40C0-AD24-55F66E3F9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CC9A-3A9F-4F40-AAE8-E67AC4CFE0A9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ECF5461-4C1C-4DD8-8745-D42A62792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018104-5725-4343-817B-370A570BC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AA324-95B0-4EF3-A4D9-C43D002B16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9845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FCF43A-D8BF-4A0B-B761-D7BC975CE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3220D87-84C5-4DC5-A6F2-D920B5DAF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D1FDBF3-9DDD-4F37-BA07-775AC7CD1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CC9A-3A9F-4F40-AAE8-E67AC4CFE0A9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F4C148-9E2B-49D6-B1FA-2B3E8C35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E1381E-DD55-4EFF-996C-8F73269A0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AA324-95B0-4EF3-A4D9-C43D002B16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9548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0D7E9-2616-479E-9E9B-99F1DACBA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16B9D60-498D-4B9C-BF04-BA85D9357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41AA66-468C-4F09-AF5C-A157A9ABF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CC9A-3A9F-4F40-AAE8-E67AC4CFE0A9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6A490BE-CCBD-46BC-93A8-EF90BAA1F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43BD00-5F8A-4F3E-B380-F9FD8FFC1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AA324-95B0-4EF3-A4D9-C43D002B16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47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2F9842-C2B7-46C6-9573-2CB76231B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7732AA-B109-41D0-99C0-C878BDA520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E587CA-9847-4158-A6D4-FB5C8F00C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5F9E63D-CD73-4542-97E9-6E0781E10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CC9A-3A9F-4F40-AAE8-E67AC4CFE0A9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D9B6486-9FA5-44EA-B412-5E9DA812E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3F55C35-ABAB-42F7-B17F-EDA96050B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AA324-95B0-4EF3-A4D9-C43D002B16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5398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3C653A-A991-43D1-B37E-10CE11605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683C10E-B047-45E0-9B13-F883BB424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064F6B3-A40F-40EF-A8E4-3CC91AD64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03B7459-7677-4E7E-976A-9683739A75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C4B83CB-4715-444A-B2D7-7362B2F1BD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B3223FD-DAD1-4831-966F-F63237129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CC9A-3A9F-4F40-AAE8-E67AC4CFE0A9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02A6165-0FAE-48A0-BF45-258AE6B04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96926C7-157A-40C3-8148-13CC0CEE5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AA324-95B0-4EF3-A4D9-C43D002B16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4006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1042BA-CEBF-4960-8F90-AD7BE422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063EA95-860B-430C-AB77-4D0AF46F9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CC9A-3A9F-4F40-AAE8-E67AC4CFE0A9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E102874-8E92-4188-924E-245BABDB3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82EE539-B405-46AC-936A-7922B6F88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AA324-95B0-4EF3-A4D9-C43D002B16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0006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3194CED-D0E1-4497-ADE6-9FCADAB58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CC9A-3A9F-4F40-AAE8-E67AC4CFE0A9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4E9F9EE-C6F6-4111-A826-772399E1E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D6114E-6C06-4CBE-A08C-656B1AB64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AA324-95B0-4EF3-A4D9-C43D002B16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0852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CB589D-22FD-493F-9EF4-28A220340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C1F89B-DE9A-4289-81E4-04388109A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A6A317F-A96B-44D9-A685-4A155CE739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A63A017-22CE-4DC5-9290-FE4A8D300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CC9A-3A9F-4F40-AAE8-E67AC4CFE0A9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684AFA-E929-4EAE-A65A-0BB6DAC0F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6FB8A02-6D47-451B-8FD1-FB3D74215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AA324-95B0-4EF3-A4D9-C43D002B16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4257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DAD81C-A9C6-4A1A-87EC-2FF9F380F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D936282-FAC9-488E-91E6-05323A90F0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20A00E3-42F7-438D-A6B1-357B0CF98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FBEE8CA-D59E-4646-81AF-E893DD0A4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CC9A-3A9F-4F40-AAE8-E67AC4CFE0A9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404FB47-C997-41D8-8F96-8F810CF8D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9BE8283-964F-471D-849C-98EA661FD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AA324-95B0-4EF3-A4D9-C43D002B16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498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C3C050-229E-4330-844F-C1F2B4144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074BAE5-6BE1-4444-B7FF-7C6791F6F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3334F7-233E-421D-AD7F-D312355C5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CC9A-3A9F-4F40-AAE8-E67AC4CFE0A9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C470CA-5462-4032-A56E-D7D843610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3E4E838-16F1-4BD7-BE3E-618C28705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AA324-95B0-4EF3-A4D9-C43D002B16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2460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B92B5EF-5736-4AD3-98CB-A3A0DF6B81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E023C3A-E2D1-4098-AED1-6BA933E9C3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B8DB2D-F830-4419-A554-62B2FF418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4CC9A-3A9F-4F40-AAE8-E67AC4CFE0A9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A82209-B2B6-49BD-B839-9FCC3074C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46514B4-D4C7-445C-ADC4-CF4845CC6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AA324-95B0-4EF3-A4D9-C43D002B16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5371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5CC6222-8A4C-41CE-A332-C845D839B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B604DAD-611D-48DE-BF66-427422BE2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940D0B-B37F-4082-B388-59C5B5535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4CC9A-3A9F-4F40-AAE8-E67AC4CFE0A9}" type="datetimeFigureOut">
              <a:rPr lang="zh-TW" altLang="en-US" smtClean="0"/>
              <a:t>2025/1/8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B17D376-C86B-4DA7-BE35-FF9E472249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72CEBB-E132-4701-A38B-F9981EC68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AA324-95B0-4EF3-A4D9-C43D002B167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277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37796BA-5E85-4ACE-9288-30042D8A87F9}"/>
              </a:ext>
            </a:extLst>
          </p:cNvPr>
          <p:cNvSpPr/>
          <p:nvPr/>
        </p:nvSpPr>
        <p:spPr>
          <a:xfrm>
            <a:off x="2838021" y="162442"/>
            <a:ext cx="2676088" cy="8724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FB4141E-8A92-457C-9A11-469DEBB96F90}"/>
              </a:ext>
            </a:extLst>
          </p:cNvPr>
          <p:cNvSpPr txBox="1"/>
          <p:nvPr/>
        </p:nvSpPr>
        <p:spPr>
          <a:xfrm>
            <a:off x="3555193" y="41400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馬路分割</a:t>
            </a:r>
          </a:p>
        </p:txBody>
      </p: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3D580044-5AC9-4876-AB24-426969DEE67C}"/>
              </a:ext>
            </a:extLst>
          </p:cNvPr>
          <p:cNvCxnSpPr>
            <a:cxnSpLocks/>
          </p:cNvCxnSpPr>
          <p:nvPr/>
        </p:nvCxnSpPr>
        <p:spPr>
          <a:xfrm rot="10800000" flipV="1">
            <a:off x="989879" y="1034893"/>
            <a:ext cx="3479802" cy="43821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0B50BFA7-BC02-4725-A468-B2565F2EB44E}"/>
              </a:ext>
            </a:extLst>
          </p:cNvPr>
          <p:cNvCxnSpPr>
            <a:cxnSpLocks/>
          </p:cNvCxnSpPr>
          <p:nvPr/>
        </p:nvCxnSpPr>
        <p:spPr>
          <a:xfrm>
            <a:off x="989880" y="1445956"/>
            <a:ext cx="0" cy="828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A8374B72-7042-49BA-9569-9D721A06A3C2}"/>
              </a:ext>
            </a:extLst>
          </p:cNvPr>
          <p:cNvSpPr/>
          <p:nvPr/>
        </p:nvSpPr>
        <p:spPr>
          <a:xfrm>
            <a:off x="240225" y="2290267"/>
            <a:ext cx="1582067" cy="7324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01D8C8C-9AAC-4D7F-BE51-F802F9C3B086}"/>
              </a:ext>
            </a:extLst>
          </p:cNvPr>
          <p:cNvSpPr txBox="1"/>
          <p:nvPr/>
        </p:nvSpPr>
        <p:spPr>
          <a:xfrm>
            <a:off x="557975" y="247181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特徵向量</a:t>
            </a:r>
            <a:endParaRPr lang="zh-TW" altLang="en-US" dirty="0"/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E5CA40DE-6E6C-4594-A34E-FC13D315CFB2}"/>
              </a:ext>
            </a:extLst>
          </p:cNvPr>
          <p:cNvCxnSpPr>
            <a:cxnSpLocks/>
            <a:stCxn id="4" idx="2"/>
            <a:endCxn id="26" idx="0"/>
          </p:cNvCxnSpPr>
          <p:nvPr/>
        </p:nvCxnSpPr>
        <p:spPr>
          <a:xfrm>
            <a:off x="4176065" y="1034897"/>
            <a:ext cx="0" cy="1239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05073BB6-77E8-41A3-8C66-F4C3B429B200}"/>
              </a:ext>
            </a:extLst>
          </p:cNvPr>
          <p:cNvSpPr/>
          <p:nvPr/>
        </p:nvSpPr>
        <p:spPr>
          <a:xfrm>
            <a:off x="3416036" y="2274369"/>
            <a:ext cx="1520057" cy="7324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389B62B9-6C02-4371-8B80-87C558DEFC30}"/>
              </a:ext>
            </a:extLst>
          </p:cNvPr>
          <p:cNvSpPr txBox="1"/>
          <p:nvPr/>
        </p:nvSpPr>
        <p:spPr>
          <a:xfrm>
            <a:off x="3622066" y="236968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紋理分析</a:t>
            </a:r>
            <a:endParaRPr lang="en-US" altLang="zh-TW" dirty="0"/>
          </a:p>
          <a:p>
            <a:pPr algn="ctr"/>
            <a:r>
              <a:rPr lang="en-US" altLang="zh-TW" dirty="0"/>
              <a:t>LBP</a:t>
            </a:r>
            <a:endParaRPr lang="zh-TW" altLang="en-US" dirty="0"/>
          </a:p>
        </p:txBody>
      </p:sp>
      <p:cxnSp>
        <p:nvCxnSpPr>
          <p:cNvPr id="31" name="接點: 肘形 30">
            <a:extLst>
              <a:ext uri="{FF2B5EF4-FFF2-40B4-BE49-F238E27FC236}">
                <a16:creationId xmlns:a16="http://schemas.microsoft.com/office/drawing/2014/main" id="{0C6239D4-1E8F-4974-B4E7-3C483165626E}"/>
              </a:ext>
            </a:extLst>
          </p:cNvPr>
          <p:cNvCxnSpPr>
            <a:cxnSpLocks/>
          </p:cNvCxnSpPr>
          <p:nvPr/>
        </p:nvCxnSpPr>
        <p:spPr>
          <a:xfrm>
            <a:off x="4320078" y="1039680"/>
            <a:ext cx="1798039" cy="49355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3B620A75-7165-433E-9874-69803E81439E}"/>
              </a:ext>
            </a:extLst>
          </p:cNvPr>
          <p:cNvCxnSpPr/>
          <p:nvPr/>
        </p:nvCxnSpPr>
        <p:spPr>
          <a:xfrm>
            <a:off x="6118117" y="1533233"/>
            <a:ext cx="0" cy="793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A78E2521-CDA3-4128-B41B-A4F489CDF8C4}"/>
              </a:ext>
            </a:extLst>
          </p:cNvPr>
          <p:cNvSpPr/>
          <p:nvPr/>
        </p:nvSpPr>
        <p:spPr>
          <a:xfrm>
            <a:off x="5358089" y="2396489"/>
            <a:ext cx="1370710" cy="6103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C5956F16-D347-430C-BF99-3B4D18DD505A}"/>
              </a:ext>
            </a:extLst>
          </p:cNvPr>
          <p:cNvSpPr txBox="1"/>
          <p:nvPr/>
        </p:nvSpPr>
        <p:spPr>
          <a:xfrm>
            <a:off x="5720278" y="251697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框選</a:t>
            </a:r>
          </a:p>
        </p:txBody>
      </p:sp>
      <p:cxnSp>
        <p:nvCxnSpPr>
          <p:cNvPr id="45" name="接點: 肘形 44">
            <a:extLst>
              <a:ext uri="{FF2B5EF4-FFF2-40B4-BE49-F238E27FC236}">
                <a16:creationId xmlns:a16="http://schemas.microsoft.com/office/drawing/2014/main" id="{1F74DD2F-FE10-4DD5-9D6A-BC0B0C21A1CE}"/>
              </a:ext>
            </a:extLst>
          </p:cNvPr>
          <p:cNvCxnSpPr>
            <a:cxnSpLocks/>
          </p:cNvCxnSpPr>
          <p:nvPr/>
        </p:nvCxnSpPr>
        <p:spPr>
          <a:xfrm rot="5400000">
            <a:off x="2910380" y="2610808"/>
            <a:ext cx="490756" cy="127093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6ADA2401-5803-4936-A151-C73D74105A73}"/>
              </a:ext>
            </a:extLst>
          </p:cNvPr>
          <p:cNvCxnSpPr/>
          <p:nvPr/>
        </p:nvCxnSpPr>
        <p:spPr>
          <a:xfrm>
            <a:off x="2532590" y="3491652"/>
            <a:ext cx="0" cy="731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圖片 47">
            <a:extLst>
              <a:ext uri="{FF2B5EF4-FFF2-40B4-BE49-F238E27FC236}">
                <a16:creationId xmlns:a16="http://schemas.microsoft.com/office/drawing/2014/main" id="{9FBE6554-2788-49E5-A9E2-4E5AF29C8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704" y="4218179"/>
            <a:ext cx="1383912" cy="621846"/>
          </a:xfrm>
          <a:prstGeom prst="rect">
            <a:avLst/>
          </a:prstGeom>
        </p:spPr>
      </p:pic>
      <p:sp>
        <p:nvSpPr>
          <p:cNvPr id="51" name="文字方塊 50">
            <a:extLst>
              <a:ext uri="{FF2B5EF4-FFF2-40B4-BE49-F238E27FC236}">
                <a16:creationId xmlns:a16="http://schemas.microsoft.com/office/drawing/2014/main" id="{92626E19-E2F1-4152-9E46-56EFEE7F1B71}"/>
              </a:ext>
            </a:extLst>
          </p:cNvPr>
          <p:cNvSpPr txBox="1"/>
          <p:nvPr/>
        </p:nvSpPr>
        <p:spPr>
          <a:xfrm>
            <a:off x="1877106" y="4344436"/>
            <a:ext cx="1409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Radius(</a:t>
            </a:r>
            <a:r>
              <a:rPr lang="zh-TW" altLang="en-US" dirty="0"/>
              <a:t>範圍</a:t>
            </a:r>
            <a:r>
              <a:rPr lang="en-US" altLang="zh-TW" dirty="0"/>
              <a:t>)</a:t>
            </a:r>
            <a:endParaRPr lang="zh-TW" altLang="en-US" dirty="0"/>
          </a:p>
        </p:txBody>
      </p:sp>
      <p:cxnSp>
        <p:nvCxnSpPr>
          <p:cNvPr id="53" name="接點: 肘形 52">
            <a:extLst>
              <a:ext uri="{FF2B5EF4-FFF2-40B4-BE49-F238E27FC236}">
                <a16:creationId xmlns:a16="http://schemas.microsoft.com/office/drawing/2014/main" id="{3C72A0E1-BCAE-4BF2-9730-EF935F614D3D}"/>
              </a:ext>
            </a:extLst>
          </p:cNvPr>
          <p:cNvCxnSpPr>
            <a:cxnSpLocks/>
            <a:endCxn id="57" idx="0"/>
          </p:cNvCxnSpPr>
          <p:nvPr/>
        </p:nvCxnSpPr>
        <p:spPr>
          <a:xfrm rot="16200000" flipH="1">
            <a:off x="4175281" y="3249036"/>
            <a:ext cx="1201480" cy="73680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圖片 56">
            <a:extLst>
              <a:ext uri="{FF2B5EF4-FFF2-40B4-BE49-F238E27FC236}">
                <a16:creationId xmlns:a16="http://schemas.microsoft.com/office/drawing/2014/main" id="{0EA9EC23-BA58-481B-B145-07A4BF0F4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468" y="4218179"/>
            <a:ext cx="1383912" cy="621846"/>
          </a:xfrm>
          <a:prstGeom prst="rect">
            <a:avLst/>
          </a:prstGeom>
        </p:spPr>
      </p:pic>
      <p:sp>
        <p:nvSpPr>
          <p:cNvPr id="59" name="文字方塊 58">
            <a:extLst>
              <a:ext uri="{FF2B5EF4-FFF2-40B4-BE49-F238E27FC236}">
                <a16:creationId xmlns:a16="http://schemas.microsoft.com/office/drawing/2014/main" id="{B2CA299B-1F52-4C1C-A86B-DAC4F3CCF08C}"/>
              </a:ext>
            </a:extLst>
          </p:cNvPr>
          <p:cNvSpPr txBox="1"/>
          <p:nvPr/>
        </p:nvSpPr>
        <p:spPr>
          <a:xfrm>
            <a:off x="4588516" y="43444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邊緣像素</a:t>
            </a:r>
          </a:p>
        </p:txBody>
      </p: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B6680F09-28B8-44C8-AF9E-77A2B5660EC5}"/>
              </a:ext>
            </a:extLst>
          </p:cNvPr>
          <p:cNvCxnSpPr/>
          <p:nvPr/>
        </p:nvCxnSpPr>
        <p:spPr>
          <a:xfrm flipV="1">
            <a:off x="6118116" y="1533233"/>
            <a:ext cx="1937857" cy="99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523E60B3-99AD-4DF5-91DB-1C611A8FCA54}"/>
              </a:ext>
            </a:extLst>
          </p:cNvPr>
          <p:cNvCxnSpPr/>
          <p:nvPr/>
        </p:nvCxnSpPr>
        <p:spPr>
          <a:xfrm>
            <a:off x="8055973" y="1533233"/>
            <a:ext cx="0" cy="836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263D17F5-CF31-4A84-A4E5-C90A5F131CDA}"/>
              </a:ext>
            </a:extLst>
          </p:cNvPr>
          <p:cNvSpPr/>
          <p:nvPr/>
        </p:nvSpPr>
        <p:spPr>
          <a:xfrm>
            <a:off x="7370618" y="2396489"/>
            <a:ext cx="1370710" cy="6103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B59F09BF-9430-450D-8B41-7712577A1570}"/>
              </a:ext>
            </a:extLst>
          </p:cNvPr>
          <p:cNvSpPr txBox="1"/>
          <p:nvPr/>
        </p:nvSpPr>
        <p:spPr>
          <a:xfrm>
            <a:off x="7501975" y="251697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影像處理</a:t>
            </a:r>
            <a:endParaRPr lang="zh-TW" altLang="en-US" dirty="0"/>
          </a:p>
        </p:txBody>
      </p:sp>
      <p:cxnSp>
        <p:nvCxnSpPr>
          <p:cNvPr id="72" name="接點: 肘形 71">
            <a:extLst>
              <a:ext uri="{FF2B5EF4-FFF2-40B4-BE49-F238E27FC236}">
                <a16:creationId xmlns:a16="http://schemas.microsoft.com/office/drawing/2014/main" id="{959FC321-99FB-43B5-A561-1514B3BCBE82}"/>
              </a:ext>
            </a:extLst>
          </p:cNvPr>
          <p:cNvCxnSpPr>
            <a:cxnSpLocks/>
          </p:cNvCxnSpPr>
          <p:nvPr/>
        </p:nvCxnSpPr>
        <p:spPr>
          <a:xfrm rot="5400000">
            <a:off x="6966665" y="2645214"/>
            <a:ext cx="484862" cy="120801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>
            <a:extLst>
              <a:ext uri="{FF2B5EF4-FFF2-40B4-BE49-F238E27FC236}">
                <a16:creationId xmlns:a16="http://schemas.microsoft.com/office/drawing/2014/main" id="{ECEF0349-4913-40A2-AAB8-1D31C77F0CA8}"/>
              </a:ext>
            </a:extLst>
          </p:cNvPr>
          <p:cNvCxnSpPr>
            <a:cxnSpLocks/>
          </p:cNvCxnSpPr>
          <p:nvPr/>
        </p:nvCxnSpPr>
        <p:spPr>
          <a:xfrm>
            <a:off x="6605088" y="3491652"/>
            <a:ext cx="0" cy="6103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>
            <a:extLst>
              <a:ext uri="{FF2B5EF4-FFF2-40B4-BE49-F238E27FC236}">
                <a16:creationId xmlns:a16="http://schemas.microsoft.com/office/drawing/2014/main" id="{C2D7AF28-7A81-4E5D-83E7-B518582649C1}"/>
              </a:ext>
            </a:extLst>
          </p:cNvPr>
          <p:cNvSpPr/>
          <p:nvPr/>
        </p:nvSpPr>
        <p:spPr>
          <a:xfrm>
            <a:off x="6043442" y="4159516"/>
            <a:ext cx="1208013" cy="6218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FB5BA79D-DEC6-4C55-98CA-4FA0D4CF6A0B}"/>
              </a:ext>
            </a:extLst>
          </p:cNvPr>
          <p:cNvSpPr txBox="1"/>
          <p:nvPr/>
        </p:nvSpPr>
        <p:spPr>
          <a:xfrm>
            <a:off x="6304245" y="4289567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sobel</a:t>
            </a:r>
            <a:endParaRPr lang="zh-TW" altLang="en-US" dirty="0"/>
          </a:p>
        </p:txBody>
      </p:sp>
      <p:cxnSp>
        <p:nvCxnSpPr>
          <p:cNvPr id="81" name="接點: 肘形 80">
            <a:extLst>
              <a:ext uri="{FF2B5EF4-FFF2-40B4-BE49-F238E27FC236}">
                <a16:creationId xmlns:a16="http://schemas.microsoft.com/office/drawing/2014/main" id="{BE41A01C-21F2-4186-83C1-44E04826378E}"/>
              </a:ext>
            </a:extLst>
          </p:cNvPr>
          <p:cNvCxnSpPr/>
          <p:nvPr/>
        </p:nvCxnSpPr>
        <p:spPr>
          <a:xfrm rot="16200000" flipH="1">
            <a:off x="8342895" y="3061702"/>
            <a:ext cx="1114056" cy="96644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81">
            <a:extLst>
              <a:ext uri="{FF2B5EF4-FFF2-40B4-BE49-F238E27FC236}">
                <a16:creationId xmlns:a16="http://schemas.microsoft.com/office/drawing/2014/main" id="{4F2209F9-87FF-4F72-81D6-D724C4542DE6}"/>
              </a:ext>
            </a:extLst>
          </p:cNvPr>
          <p:cNvSpPr/>
          <p:nvPr/>
        </p:nvSpPr>
        <p:spPr>
          <a:xfrm>
            <a:off x="8741328" y="4101954"/>
            <a:ext cx="1208013" cy="6218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5AF82754-2FE1-4188-B2CB-024A7FD35616}"/>
              </a:ext>
            </a:extLst>
          </p:cNvPr>
          <p:cNvSpPr txBox="1"/>
          <p:nvPr/>
        </p:nvSpPr>
        <p:spPr>
          <a:xfrm>
            <a:off x="8829149" y="422821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平滑處理</a:t>
            </a:r>
          </a:p>
        </p:txBody>
      </p:sp>
      <p:cxnSp>
        <p:nvCxnSpPr>
          <p:cNvPr id="2" name="直線單箭頭接點 1">
            <a:extLst>
              <a:ext uri="{FF2B5EF4-FFF2-40B4-BE49-F238E27FC236}">
                <a16:creationId xmlns:a16="http://schemas.microsoft.com/office/drawing/2014/main" id="{E2E2FFE6-CDAA-38DD-1DDE-D247AF1EF940}"/>
              </a:ext>
            </a:extLst>
          </p:cNvPr>
          <p:cNvCxnSpPr/>
          <p:nvPr/>
        </p:nvCxnSpPr>
        <p:spPr>
          <a:xfrm>
            <a:off x="2492853" y="4840025"/>
            <a:ext cx="0" cy="731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圖片 2">
            <a:extLst>
              <a:ext uri="{FF2B5EF4-FFF2-40B4-BE49-F238E27FC236}">
                <a16:creationId xmlns:a16="http://schemas.microsoft.com/office/drawing/2014/main" id="{C55F4C43-78AA-D1F4-A408-A2B497360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355" y="5614881"/>
            <a:ext cx="1582069" cy="62184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E26FF012-C267-B470-D871-2D53A85FD300}"/>
              </a:ext>
            </a:extLst>
          </p:cNvPr>
          <p:cNvSpPr txBox="1"/>
          <p:nvPr/>
        </p:nvSpPr>
        <p:spPr>
          <a:xfrm>
            <a:off x="1790752" y="5708707"/>
            <a:ext cx="1562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LBP </a:t>
            </a:r>
            <a:r>
              <a:rPr lang="en-US" altLang="zh-TW" dirty="0" err="1"/>
              <a:t>HIStogram</a:t>
            </a:r>
            <a:endParaRPr lang="zh-TW" altLang="en-US" dirty="0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3C99DF4C-1572-F6A4-6C28-41273771E65C}"/>
              </a:ext>
            </a:extLst>
          </p:cNvPr>
          <p:cNvCxnSpPr>
            <a:cxnSpLocks/>
          </p:cNvCxnSpPr>
          <p:nvPr/>
        </p:nvCxnSpPr>
        <p:spPr>
          <a:xfrm>
            <a:off x="981510" y="3028815"/>
            <a:ext cx="0" cy="588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CA4FA957-C747-2281-D09A-576493974A30}"/>
              </a:ext>
            </a:extLst>
          </p:cNvPr>
          <p:cNvSpPr/>
          <p:nvPr/>
        </p:nvSpPr>
        <p:spPr>
          <a:xfrm>
            <a:off x="251128" y="3643238"/>
            <a:ext cx="1582067" cy="7324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00050FC-6424-9BA0-18FD-15A1CC8815BB}"/>
              </a:ext>
            </a:extLst>
          </p:cNvPr>
          <p:cNvSpPr txBox="1"/>
          <p:nvPr/>
        </p:nvSpPr>
        <p:spPr>
          <a:xfrm>
            <a:off x="349847" y="382478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搜尋近似值</a:t>
            </a:r>
          </a:p>
        </p:txBody>
      </p:sp>
    </p:spTree>
    <p:extLst>
      <p:ext uri="{BB962C8B-B14F-4D97-AF65-F5344CB8AC3E}">
        <p14:creationId xmlns:p14="http://schemas.microsoft.com/office/powerpoint/2010/main" val="1732007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022A545-05F8-437A-8BCA-6F5087AE76F4}"/>
              </a:ext>
            </a:extLst>
          </p:cNvPr>
          <p:cNvSpPr/>
          <p:nvPr/>
        </p:nvSpPr>
        <p:spPr>
          <a:xfrm>
            <a:off x="570452" y="696286"/>
            <a:ext cx="3254928" cy="49075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56B969-0B81-44BA-934A-E02168BC9736}"/>
              </a:ext>
            </a:extLst>
          </p:cNvPr>
          <p:cNvSpPr/>
          <p:nvPr/>
        </p:nvSpPr>
        <p:spPr>
          <a:xfrm>
            <a:off x="1409352" y="1124125"/>
            <a:ext cx="1241570" cy="7130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BDAC30A-EA38-46A4-BC01-7D9B0A89892F}"/>
              </a:ext>
            </a:extLst>
          </p:cNvPr>
          <p:cNvSpPr txBox="1"/>
          <p:nvPr/>
        </p:nvSpPr>
        <p:spPr>
          <a:xfrm>
            <a:off x="1652629" y="1295991"/>
            <a:ext cx="75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image</a:t>
            </a:r>
            <a:endParaRPr lang="zh-TW" altLang="en-US" dirty="0"/>
          </a:p>
        </p:txBody>
      </p: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59F37DD0-72D8-4457-A623-73C16009269B}"/>
              </a:ext>
            </a:extLst>
          </p:cNvPr>
          <p:cNvCxnSpPr>
            <a:stCxn id="5" idx="2"/>
          </p:cNvCxnSpPr>
          <p:nvPr/>
        </p:nvCxnSpPr>
        <p:spPr>
          <a:xfrm rot="16200000" flipH="1">
            <a:off x="1874940" y="1992386"/>
            <a:ext cx="855676" cy="5452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8FA2B527-E051-403F-8680-B8DDBF31A5F3}"/>
              </a:ext>
            </a:extLst>
          </p:cNvPr>
          <p:cNvSpPr/>
          <p:nvPr/>
        </p:nvSpPr>
        <p:spPr>
          <a:xfrm>
            <a:off x="1778468" y="2715935"/>
            <a:ext cx="1744907" cy="7130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4B8D8BF-BC8B-46F0-B08B-1385D6961029}"/>
              </a:ext>
            </a:extLst>
          </p:cNvPr>
          <p:cNvSpPr txBox="1"/>
          <p:nvPr/>
        </p:nvSpPr>
        <p:spPr>
          <a:xfrm>
            <a:off x="2063341" y="286268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高斯模糊</a:t>
            </a:r>
            <a:endParaRPr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F99A652-B683-41ED-BD8E-D0150274D4E5}"/>
              </a:ext>
            </a:extLst>
          </p:cNvPr>
          <p:cNvSpPr/>
          <p:nvPr/>
        </p:nvSpPr>
        <p:spPr>
          <a:xfrm>
            <a:off x="1702966" y="4718808"/>
            <a:ext cx="1744907" cy="7130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9A84D73-F581-4600-BEC5-3553507BD397}"/>
              </a:ext>
            </a:extLst>
          </p:cNvPr>
          <p:cNvSpPr txBox="1"/>
          <p:nvPr/>
        </p:nvSpPr>
        <p:spPr>
          <a:xfrm>
            <a:off x="1907306" y="4912642"/>
            <a:ext cx="140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lbp</a:t>
            </a:r>
            <a:r>
              <a:rPr lang="zh-TW" altLang="en-US" dirty="0"/>
              <a:t>紋理分析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E7EF14DF-28EF-4335-A2BC-85DB9B71C498}"/>
              </a:ext>
            </a:extLst>
          </p:cNvPr>
          <p:cNvCxnSpPr>
            <a:cxnSpLocks/>
          </p:cNvCxnSpPr>
          <p:nvPr/>
        </p:nvCxnSpPr>
        <p:spPr>
          <a:xfrm>
            <a:off x="2643931" y="3429000"/>
            <a:ext cx="0" cy="299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5BD847DD-7931-4954-9A1E-3308EF386672}"/>
              </a:ext>
            </a:extLst>
          </p:cNvPr>
          <p:cNvSpPr/>
          <p:nvPr/>
        </p:nvSpPr>
        <p:spPr>
          <a:xfrm>
            <a:off x="1737128" y="3728907"/>
            <a:ext cx="1744907" cy="7130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A5CB927-FB8E-4CBB-A71E-653E7F131546}"/>
              </a:ext>
            </a:extLst>
          </p:cNvPr>
          <p:cNvSpPr txBox="1"/>
          <p:nvPr/>
        </p:nvSpPr>
        <p:spPr>
          <a:xfrm>
            <a:off x="2319840" y="3856839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sobel</a:t>
            </a:r>
            <a:endParaRPr lang="zh-TW" altLang="en-US" dirty="0"/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B6F234E3-7558-4C80-968B-7B49F5ED10AD}"/>
              </a:ext>
            </a:extLst>
          </p:cNvPr>
          <p:cNvCxnSpPr>
            <a:cxnSpLocks/>
          </p:cNvCxnSpPr>
          <p:nvPr/>
        </p:nvCxnSpPr>
        <p:spPr>
          <a:xfrm>
            <a:off x="2586606" y="4441972"/>
            <a:ext cx="0" cy="299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04153F60-4D78-30EA-1C60-814BA30EE095}"/>
              </a:ext>
            </a:extLst>
          </p:cNvPr>
          <p:cNvSpPr txBox="1"/>
          <p:nvPr/>
        </p:nvSpPr>
        <p:spPr>
          <a:xfrm>
            <a:off x="2057356" y="5783884"/>
            <a:ext cx="700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step1</a:t>
            </a:r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D4B8C8-F6FE-EFE6-8C00-3A0FC765390D}"/>
              </a:ext>
            </a:extLst>
          </p:cNvPr>
          <p:cNvSpPr/>
          <p:nvPr/>
        </p:nvSpPr>
        <p:spPr>
          <a:xfrm>
            <a:off x="4426333" y="696286"/>
            <a:ext cx="3254928" cy="49075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BB8C84-A2D2-EED7-F448-4A501B9BDCD6}"/>
              </a:ext>
            </a:extLst>
          </p:cNvPr>
          <p:cNvSpPr/>
          <p:nvPr/>
        </p:nvSpPr>
        <p:spPr>
          <a:xfrm>
            <a:off x="4976069" y="897621"/>
            <a:ext cx="1241570" cy="7130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59EBC3C-7CD0-2FF7-2B95-A5A6C5CDD82F}"/>
              </a:ext>
            </a:extLst>
          </p:cNvPr>
          <p:cNvSpPr txBox="1"/>
          <p:nvPr/>
        </p:nvSpPr>
        <p:spPr>
          <a:xfrm>
            <a:off x="5184305" y="953421"/>
            <a:ext cx="879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Sobel</a:t>
            </a:r>
          </a:p>
          <a:p>
            <a:r>
              <a:rPr lang="en-US" altLang="zh-TW" dirty="0" err="1"/>
              <a:t>Ksize</a:t>
            </a:r>
            <a:r>
              <a:rPr lang="en-US" altLang="zh-TW" dirty="0"/>
              <a:t>=4</a:t>
            </a:r>
            <a:endParaRPr lang="zh-TW" altLang="en-US" dirty="0"/>
          </a:p>
        </p:txBody>
      </p: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20BFB03C-57DA-A1CB-59AE-727029C7928A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5441657" y="1765882"/>
            <a:ext cx="855676" cy="5452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0C5604BA-EE0E-72E9-12CF-FB03392DF62D}"/>
              </a:ext>
            </a:extLst>
          </p:cNvPr>
          <p:cNvSpPr/>
          <p:nvPr/>
        </p:nvSpPr>
        <p:spPr>
          <a:xfrm>
            <a:off x="5345185" y="2489431"/>
            <a:ext cx="1744907" cy="7130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7861397-61C7-DD32-3189-2FE49448F410}"/>
              </a:ext>
            </a:extLst>
          </p:cNvPr>
          <p:cNvSpPr/>
          <p:nvPr/>
        </p:nvSpPr>
        <p:spPr>
          <a:xfrm>
            <a:off x="5269683" y="4639108"/>
            <a:ext cx="1744907" cy="7130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3388CCE9-8CB4-3C3F-940D-9EDEFE3155BD}"/>
              </a:ext>
            </a:extLst>
          </p:cNvPr>
          <p:cNvCxnSpPr>
            <a:cxnSpLocks/>
          </p:cNvCxnSpPr>
          <p:nvPr/>
        </p:nvCxnSpPr>
        <p:spPr>
          <a:xfrm>
            <a:off x="6210648" y="3202496"/>
            <a:ext cx="0" cy="299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C57D25B7-C604-CD54-4621-EA5F1346D672}"/>
              </a:ext>
            </a:extLst>
          </p:cNvPr>
          <p:cNvSpPr/>
          <p:nvPr/>
        </p:nvSpPr>
        <p:spPr>
          <a:xfrm>
            <a:off x="5303845" y="3502403"/>
            <a:ext cx="1744907" cy="84000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AFACAAE5-0545-0791-24AF-704BB96D8112}"/>
              </a:ext>
            </a:extLst>
          </p:cNvPr>
          <p:cNvSpPr txBox="1"/>
          <p:nvPr/>
        </p:nvSpPr>
        <p:spPr>
          <a:xfrm>
            <a:off x="5624073" y="3466135"/>
            <a:ext cx="11288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LBP</a:t>
            </a:r>
            <a:r>
              <a:rPr lang="zh-TW" altLang="en-US" dirty="0"/>
              <a:t>參數</a:t>
            </a:r>
            <a:endParaRPr lang="en-US" altLang="zh-TW" dirty="0"/>
          </a:p>
          <a:p>
            <a:r>
              <a:rPr lang="en-US" altLang="zh-TW" dirty="0"/>
              <a:t>RADIUS=1</a:t>
            </a:r>
          </a:p>
          <a:p>
            <a:r>
              <a:rPr lang="zh-TW" altLang="en-US" dirty="0"/>
              <a:t>像素點</a:t>
            </a:r>
            <a:r>
              <a:rPr lang="en-US" altLang="zh-TW" dirty="0"/>
              <a:t>=8</a:t>
            </a:r>
            <a:endParaRPr lang="zh-TW" altLang="en-US" dirty="0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0387F942-2875-9CB9-84E7-265713EC7598}"/>
              </a:ext>
            </a:extLst>
          </p:cNvPr>
          <p:cNvCxnSpPr>
            <a:cxnSpLocks/>
          </p:cNvCxnSpPr>
          <p:nvPr/>
        </p:nvCxnSpPr>
        <p:spPr>
          <a:xfrm>
            <a:off x="6134804" y="4342405"/>
            <a:ext cx="0" cy="299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3416E297-E5C1-0679-9483-1A74A6D75674}"/>
              </a:ext>
            </a:extLst>
          </p:cNvPr>
          <p:cNvSpPr txBox="1"/>
          <p:nvPr/>
        </p:nvSpPr>
        <p:spPr>
          <a:xfrm>
            <a:off x="5913237" y="5783884"/>
            <a:ext cx="700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step2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0F8D5A41-BE90-E0A1-EE2F-5BFA03A62671}"/>
              </a:ext>
            </a:extLst>
          </p:cNvPr>
          <p:cNvSpPr txBox="1"/>
          <p:nvPr/>
        </p:nvSpPr>
        <p:spPr>
          <a:xfrm>
            <a:off x="5624073" y="2702059"/>
            <a:ext cx="1549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Sobel </a:t>
            </a:r>
            <a:r>
              <a:rPr lang="en-US" altLang="zh-TW" dirty="0" err="1"/>
              <a:t>img</a:t>
            </a:r>
            <a:endParaRPr lang="zh-TW" altLang="en-US" dirty="0"/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042BEFFF-EA16-BD40-2072-DA31DDAD59F4}"/>
              </a:ext>
            </a:extLst>
          </p:cNvPr>
          <p:cNvCxnSpPr>
            <a:stCxn id="4" idx="3"/>
            <a:endCxn id="3" idx="1"/>
          </p:cNvCxnSpPr>
          <p:nvPr/>
        </p:nvCxnSpPr>
        <p:spPr>
          <a:xfrm>
            <a:off x="3825380" y="3150066"/>
            <a:ext cx="6009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7DF7E657-8C78-0E4C-4806-028F1EF1AC66}"/>
              </a:ext>
            </a:extLst>
          </p:cNvPr>
          <p:cNvSpPr txBox="1"/>
          <p:nvPr/>
        </p:nvSpPr>
        <p:spPr>
          <a:xfrm>
            <a:off x="5345185" y="4810974"/>
            <a:ext cx="1659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Histogram </a:t>
            </a:r>
            <a:r>
              <a:rPr lang="zh-TW" altLang="en-US" dirty="0"/>
              <a:t>計算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B712736-7235-65C4-6429-35068E7D968C}"/>
              </a:ext>
            </a:extLst>
          </p:cNvPr>
          <p:cNvSpPr/>
          <p:nvPr/>
        </p:nvSpPr>
        <p:spPr>
          <a:xfrm>
            <a:off x="8175198" y="696286"/>
            <a:ext cx="3254928" cy="49075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61FC950-DC75-C6FC-E612-8DD907B035FC}"/>
              </a:ext>
            </a:extLst>
          </p:cNvPr>
          <p:cNvSpPr/>
          <p:nvPr/>
        </p:nvSpPr>
        <p:spPr>
          <a:xfrm>
            <a:off x="8724934" y="897621"/>
            <a:ext cx="1241570" cy="7130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E870568A-F6AE-5625-7E5A-1BB534035813}"/>
              </a:ext>
            </a:extLst>
          </p:cNvPr>
          <p:cNvSpPr txBox="1"/>
          <p:nvPr/>
        </p:nvSpPr>
        <p:spPr>
          <a:xfrm>
            <a:off x="8791720" y="108021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特徵向量</a:t>
            </a:r>
            <a:endParaRPr lang="zh-TW" altLang="en-US" dirty="0"/>
          </a:p>
        </p:txBody>
      </p:sp>
      <p:cxnSp>
        <p:nvCxnSpPr>
          <p:cNvPr id="37" name="接點: 肘形 36">
            <a:extLst>
              <a:ext uri="{FF2B5EF4-FFF2-40B4-BE49-F238E27FC236}">
                <a16:creationId xmlns:a16="http://schemas.microsoft.com/office/drawing/2014/main" id="{944CEDA9-78D3-D2D0-8B68-4BE366766331}"/>
              </a:ext>
            </a:extLst>
          </p:cNvPr>
          <p:cNvCxnSpPr>
            <a:cxnSpLocks/>
            <a:stCxn id="35" idx="2"/>
          </p:cNvCxnSpPr>
          <p:nvPr/>
        </p:nvCxnSpPr>
        <p:spPr>
          <a:xfrm rot="16200000" flipH="1">
            <a:off x="9190522" y="1765882"/>
            <a:ext cx="855676" cy="5452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36271DE9-30F9-BCC7-E29A-B5D517FA85D7}"/>
              </a:ext>
            </a:extLst>
          </p:cNvPr>
          <p:cNvSpPr/>
          <p:nvPr/>
        </p:nvSpPr>
        <p:spPr>
          <a:xfrm>
            <a:off x="9094050" y="2489431"/>
            <a:ext cx="1744907" cy="7130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6FFDA74-7D96-127E-FBA7-C15A3F211091}"/>
              </a:ext>
            </a:extLst>
          </p:cNvPr>
          <p:cNvSpPr/>
          <p:nvPr/>
        </p:nvSpPr>
        <p:spPr>
          <a:xfrm>
            <a:off x="9018548" y="4639108"/>
            <a:ext cx="1744907" cy="7130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6F71E4B0-5E50-34AE-F4E0-08D49B3A879E}"/>
              </a:ext>
            </a:extLst>
          </p:cNvPr>
          <p:cNvCxnSpPr>
            <a:cxnSpLocks/>
          </p:cNvCxnSpPr>
          <p:nvPr/>
        </p:nvCxnSpPr>
        <p:spPr>
          <a:xfrm>
            <a:off x="9959513" y="3202496"/>
            <a:ext cx="0" cy="299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97C94274-0447-80B4-3198-14BCB91E8AD8}"/>
              </a:ext>
            </a:extLst>
          </p:cNvPr>
          <p:cNvSpPr/>
          <p:nvPr/>
        </p:nvSpPr>
        <p:spPr>
          <a:xfrm>
            <a:off x="9052710" y="3502403"/>
            <a:ext cx="1744907" cy="84000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EAD6EF67-32E7-792B-0F7F-A03312DF4DB1}"/>
              </a:ext>
            </a:extLst>
          </p:cNvPr>
          <p:cNvSpPr txBox="1"/>
          <p:nvPr/>
        </p:nvSpPr>
        <p:spPr>
          <a:xfrm>
            <a:off x="9643337" y="373773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框選</a:t>
            </a:r>
            <a:endParaRPr lang="zh-TW" altLang="en-US" dirty="0"/>
          </a:p>
        </p:txBody>
      </p: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EFE8A78C-D663-7290-28C6-8E48B3E32813}"/>
              </a:ext>
            </a:extLst>
          </p:cNvPr>
          <p:cNvCxnSpPr>
            <a:cxnSpLocks/>
          </p:cNvCxnSpPr>
          <p:nvPr/>
        </p:nvCxnSpPr>
        <p:spPr>
          <a:xfrm>
            <a:off x="9883669" y="4342405"/>
            <a:ext cx="0" cy="299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B2A0B1EA-35E9-969C-9276-BFB031A305EE}"/>
              </a:ext>
            </a:extLst>
          </p:cNvPr>
          <p:cNvSpPr txBox="1"/>
          <p:nvPr/>
        </p:nvSpPr>
        <p:spPr>
          <a:xfrm>
            <a:off x="9222510" y="2674837"/>
            <a:ext cx="1812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尋找相近特徵</a:t>
            </a:r>
            <a:endParaRPr lang="zh-TW" altLang="en-US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E94C805B-3DF4-5575-8BF9-709530EDDBBF}"/>
              </a:ext>
            </a:extLst>
          </p:cNvPr>
          <p:cNvSpPr txBox="1"/>
          <p:nvPr/>
        </p:nvSpPr>
        <p:spPr>
          <a:xfrm>
            <a:off x="9357667" y="480980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輸出圖片</a:t>
            </a:r>
            <a:endParaRPr lang="zh-TW" altLang="en-US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2802AB09-39A1-E478-4223-2BC4F6C0C949}"/>
              </a:ext>
            </a:extLst>
          </p:cNvPr>
          <p:cNvSpPr txBox="1"/>
          <p:nvPr/>
        </p:nvSpPr>
        <p:spPr>
          <a:xfrm>
            <a:off x="9589092" y="5777782"/>
            <a:ext cx="700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step3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13610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DA541-FD9F-E415-0DBF-4E8D3709C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DC25689D-B6E6-F549-2726-4FCD5B6AE0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943193"/>
              </p:ext>
            </p:extLst>
          </p:nvPr>
        </p:nvGraphicFramePr>
        <p:xfrm>
          <a:off x="1265381" y="1909617"/>
          <a:ext cx="9301018" cy="3087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1018">
                  <a:extLst>
                    <a:ext uri="{9D8B030D-6E8A-4147-A177-3AD203B41FA5}">
                      <a16:colId xmlns:a16="http://schemas.microsoft.com/office/drawing/2014/main" val="2946792749"/>
                    </a:ext>
                  </a:extLst>
                </a:gridCol>
              </a:tblGrid>
              <a:tr h="8795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Gray_generate_8bit(image)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4325808"/>
                  </a:ext>
                </a:extLst>
              </a:tr>
              <a:tr h="73589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將圖片格式變成灰值並轉換成</a:t>
                      </a:r>
                      <a:r>
                        <a:rPr lang="en-US" altLang="zh-TW" dirty="0"/>
                        <a:t>8bit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431956"/>
                  </a:ext>
                </a:extLst>
              </a:tr>
              <a:tr h="73589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Input:image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940285"/>
                  </a:ext>
                </a:extLst>
              </a:tr>
              <a:tr h="73589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return:grayimg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15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4729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F3AAA-1A6B-472F-72D5-185EA2B9D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22758E80-AB7A-D156-9D41-098052349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074749"/>
              </p:ext>
            </p:extLst>
          </p:nvPr>
        </p:nvGraphicFramePr>
        <p:xfrm>
          <a:off x="1265381" y="1909617"/>
          <a:ext cx="9301018" cy="3087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1018">
                  <a:extLst>
                    <a:ext uri="{9D8B030D-6E8A-4147-A177-3AD203B41FA5}">
                      <a16:colId xmlns:a16="http://schemas.microsoft.com/office/drawing/2014/main" val="2946792749"/>
                    </a:ext>
                  </a:extLst>
                </a:gridCol>
              </a:tblGrid>
              <a:tr h="8795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LBP_process</a:t>
                      </a:r>
                      <a:r>
                        <a:rPr lang="en-US" altLang="zh-TW" dirty="0"/>
                        <a:t>(</a:t>
                      </a:r>
                      <a:r>
                        <a:rPr lang="en-US" altLang="zh-TW" dirty="0" err="1"/>
                        <a:t>image,r,p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4325808"/>
                  </a:ext>
                </a:extLst>
              </a:tr>
              <a:tr h="73589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將圖片利用</a:t>
                      </a:r>
                      <a:r>
                        <a:rPr lang="en-US" altLang="zh-TW" dirty="0"/>
                        <a:t>python</a:t>
                      </a:r>
                      <a:r>
                        <a:rPr lang="zh-TW" altLang="en-US" dirty="0"/>
                        <a:t>檢測</a:t>
                      </a:r>
                      <a:r>
                        <a:rPr lang="en-US" altLang="zh-TW" dirty="0"/>
                        <a:t>LBP</a:t>
                      </a:r>
                      <a:r>
                        <a:rPr lang="zh-TW" altLang="en-US" dirty="0"/>
                        <a:t>閥值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431956"/>
                  </a:ext>
                </a:extLst>
              </a:tr>
              <a:tr h="73589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Input:grayimage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940285"/>
                  </a:ext>
                </a:extLst>
              </a:tr>
              <a:tr h="73589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return:LBP</a:t>
                      </a:r>
                      <a:r>
                        <a:rPr lang="zh-TW" altLang="en-US" dirty="0"/>
                        <a:t>閥值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15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912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78AEB-318B-0116-FF62-5F64F530F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663D9A8E-B64C-BE2E-56A6-8C7F051B2B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21522"/>
              </p:ext>
            </p:extLst>
          </p:nvPr>
        </p:nvGraphicFramePr>
        <p:xfrm>
          <a:off x="1265381" y="1909617"/>
          <a:ext cx="9301018" cy="3087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1018">
                  <a:extLst>
                    <a:ext uri="{9D8B030D-6E8A-4147-A177-3AD203B41FA5}">
                      <a16:colId xmlns:a16="http://schemas.microsoft.com/office/drawing/2014/main" val="2946792749"/>
                    </a:ext>
                  </a:extLst>
                </a:gridCol>
              </a:tblGrid>
              <a:tr h="87958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HSvfind</a:t>
                      </a:r>
                      <a:r>
                        <a:rPr lang="en-US" altLang="zh-TW" dirty="0"/>
                        <a:t>(</a:t>
                      </a:r>
                      <a:r>
                        <a:rPr lang="en-US" altLang="zh-TW" dirty="0" err="1"/>
                        <a:t>LBP_image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4325808"/>
                  </a:ext>
                </a:extLst>
              </a:tr>
              <a:tr h="73589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將馬路圖片的顏色利用</a:t>
                      </a:r>
                      <a:r>
                        <a:rPr lang="en-US" altLang="zh-TW" dirty="0"/>
                        <a:t>HSV</a:t>
                      </a:r>
                      <a:r>
                        <a:rPr lang="zh-TW" altLang="en-US" dirty="0"/>
                        <a:t>偵測增加能辨識的準確度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431956"/>
                  </a:ext>
                </a:extLst>
              </a:tr>
              <a:tr h="73589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Input:image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940285"/>
                  </a:ext>
                </a:extLst>
              </a:tr>
              <a:tr h="73589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return:HSV</a:t>
                      </a:r>
                      <a:r>
                        <a:rPr lang="zh-TW" altLang="en-US" dirty="0"/>
                        <a:t>閥值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15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5060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229753-4CD0-888F-D39F-8A38EC9A3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取樣馬路圖片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2C21079-08A2-C0B2-8A8F-DC3F8F9A2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5272"/>
            <a:ext cx="12192000" cy="2759357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6BA0147F-4567-CA6C-438C-AB9B56BECAEA}"/>
              </a:ext>
            </a:extLst>
          </p:cNvPr>
          <p:cNvSpPr txBox="1"/>
          <p:nvPr/>
        </p:nvSpPr>
        <p:spPr>
          <a:xfrm>
            <a:off x="914400" y="1939636"/>
            <a:ext cx="4679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</a:t>
            </a:r>
            <a:r>
              <a:rPr lang="zh-TW" altLang="en-US" dirty="0"/>
              <a:t> 利用</a:t>
            </a:r>
            <a:r>
              <a:rPr lang="en-US" altLang="zh-TW" dirty="0"/>
              <a:t>LBP</a:t>
            </a:r>
            <a:r>
              <a:rPr lang="zh-TW" altLang="en-US" dirty="0"/>
              <a:t>偵測馬路的紋路和</a:t>
            </a:r>
            <a:r>
              <a:rPr lang="en-US" altLang="zh-TW" dirty="0"/>
              <a:t>HSV</a:t>
            </a:r>
            <a:r>
              <a:rPr lang="zh-TW" altLang="en-US" dirty="0"/>
              <a:t>值</a:t>
            </a:r>
            <a:r>
              <a:rPr lang="en-US" altLang="zh-TW" dirty="0"/>
              <a:t>(</a:t>
            </a:r>
            <a:r>
              <a:rPr lang="zh-TW" altLang="en-US" dirty="0"/>
              <a:t>綠框範圍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0A61293D-9E49-5CC0-8464-9AFA86DFF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14629"/>
            <a:ext cx="9250066" cy="1943371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86BF4DF4-50AA-CD9C-EC7F-15C307095FE7}"/>
              </a:ext>
            </a:extLst>
          </p:cNvPr>
          <p:cNvSpPr/>
          <p:nvPr/>
        </p:nvSpPr>
        <p:spPr>
          <a:xfrm>
            <a:off x="240145" y="5532582"/>
            <a:ext cx="3620655" cy="609600"/>
          </a:xfrm>
          <a:prstGeom prst="rect">
            <a:avLst/>
          </a:prstGeom>
          <a:noFill/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2268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2A35EB-508D-B7D3-4751-49DDCA5DE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LBP</a:t>
            </a:r>
            <a:r>
              <a:rPr lang="zh-TW" altLang="en-US" dirty="0"/>
              <a:t>直方圖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DD385B9-5F2F-5A78-1E75-59E0BA1B4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725" y="1859252"/>
            <a:ext cx="8129267" cy="4708237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B855D77E-0457-B0A3-1AD4-F6F85A29A8BD}"/>
              </a:ext>
            </a:extLst>
          </p:cNvPr>
          <p:cNvSpPr txBox="1"/>
          <p:nvPr/>
        </p:nvSpPr>
        <p:spPr>
          <a:xfrm>
            <a:off x="415637" y="1405638"/>
            <a:ext cx="1960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</a:t>
            </a:r>
            <a:r>
              <a:rPr lang="zh-TW" altLang="en-US" dirty="0"/>
              <a:t> </a:t>
            </a:r>
            <a:r>
              <a:rPr lang="en-US" altLang="zh-TW" dirty="0"/>
              <a:t>LBP</a:t>
            </a:r>
            <a:r>
              <a:rPr lang="zh-TW" altLang="en-US" dirty="0"/>
              <a:t>閥值為</a:t>
            </a:r>
            <a:r>
              <a:rPr lang="en-US" altLang="zh-TW" dirty="0"/>
              <a:t>1 ,5 ,8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96717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0E6AF4-A8C8-7BAD-DDA9-1BF678475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完成結果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B0742DF-BB22-D4E4-EFD7-BF6E329B9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98" y="1610419"/>
            <a:ext cx="12192000" cy="54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103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171</Words>
  <Application>Microsoft Office PowerPoint</Application>
  <PresentationFormat>寬螢幕</PresentationFormat>
  <Paragraphs>47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取樣馬路圖片</vt:lpstr>
      <vt:lpstr>LBP直方圖</vt:lpstr>
      <vt:lpstr>完成結果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曾威璋</cp:lastModifiedBy>
  <cp:revision>19</cp:revision>
  <dcterms:created xsi:type="dcterms:W3CDTF">2024-10-24T05:49:56Z</dcterms:created>
  <dcterms:modified xsi:type="dcterms:W3CDTF">2025-01-08T09:01:50Z</dcterms:modified>
</cp:coreProperties>
</file>